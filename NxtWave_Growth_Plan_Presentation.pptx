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NXTWAVE GROWTH CHALLENGE SUBMISSION</a:t>
            </a:r>
          </a:p>
          <a:p>
            <a:pPr>
              <a:spcBef>
                <a:spcPts val="800"/>
              </a:spcBef>
              <a:defRPr sz="2800" b="1">
                <a:solidFill>
                  <a:srgbClr val="0F172A"/>
                </a:solidFill>
                <a:latin typeface="Calibri"/>
              </a:defRPr>
            </a:pPr>
            <a:r>
              <a:t>Acquiring 500 Final-Year Engineering Students on a ₹2,000 Budget</a:t>
            </a:r>
          </a:p>
          <a:p>
            <a:pPr>
              <a:spcBef>
                <a:spcPts val="800"/>
              </a:spcBef>
              <a:defRPr sz="1400">
                <a:solidFill>
                  <a:srgbClr val="475569"/>
                </a:solidFill>
                <a:latin typeface="Calibri"/>
              </a:defRPr>
            </a:pPr>
            <a:r>
              <a:t>Campaign: 'Build Your First Production AI Project in 60 Minutes' | Target Batch: 2025/2026 B.Tech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Calibri"/>
              </a:defRPr>
            </a:pPr>
            <a:r>
              <a:t>500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Target Registrations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100% capacity target (544 projected)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9233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2113" y="416052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₹2,000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Total Budget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Strict spend constraint ceiling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6947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9827" y="416052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59669"/>
                </a:solidFill>
                <a:latin typeface="Calibri"/>
              </a:defRPr>
            </a:pPr>
            <a:r>
              <a:t>₹4.00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Target CPA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vs. ₹80-₹120 EdTech paid 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466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7540" y="416052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7706"/>
                </a:solidFill>
                <a:latin typeface="Calibri"/>
              </a:defRPr>
            </a:pPr>
            <a:r>
              <a:t>68%+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Live Attendance Rate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Driven by 3-touch WhatsApp reminders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PART 1: AUDIENCE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Ideal Candidate Profile (ICP): 'Anxious Arjun'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Targeting final-year engineering students experiencing acute campus placement anxiety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WHO WE ARE TARGETING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Demographics: </a:t>
            </a:r>
            <a:r>
              <a:rPr sz="1100">
                <a:solidFill>
                  <a:srgbClr val="475569"/>
                </a:solidFill>
              </a:rPr>
              <a:t>Final-year B.Tech / B.E. (2025/2026 Batch) at Tier-2 / Tier-3 colleges across South &amp; Central India.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Placement Anxiety: </a:t>
            </a:r>
            <a:r>
              <a:rPr sz="1100">
                <a:solidFill>
                  <a:srgbClr val="475569"/>
                </a:solidFill>
              </a:rPr>
              <a:t>Mass recruiters (TCS, Infosys, Wipro, Cognizant) have slashed hiring or delayed onboarding; campus season closes in &lt;90 days.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Resume ATS Problem: </a:t>
            </a:r>
            <a:r>
              <a:rPr sz="1100">
                <a:solidFill>
                  <a:srgbClr val="475569"/>
                </a:solidFill>
              </a:rPr>
              <a:t>Resumes filled with obsolete 2020 projects (To-Do list, calculator, basic weather app) are rejected by recruiter ATS filters in seconds.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Cognitive Exhaustion: </a:t>
            </a:r>
            <a:r>
              <a:rPr sz="1100">
                <a:solidFill>
                  <a:srgbClr val="475569"/>
                </a:solidFill>
              </a:rPr>
              <a:t>Arjun has zero appetite for ₹30,000 bootcamps or 6-month courses. He needs a verifiable win he can deploy this weekend.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73736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⚡ WHY THEY REGISTER &amp; ATTEND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Primary Hook: </a:t>
            </a:r>
            <a:r>
              <a:rPr sz="1100">
                <a:solidFill>
                  <a:srgbClr val="475569"/>
                </a:solidFill>
              </a:rPr>
              <a:t>'Stop applying with 2020 CRUD apps. Build &amp; deploy a real Generative AI Agent on GitHub in 60 minutes.'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Zero Barrier to Entry: </a:t>
            </a:r>
            <a:r>
              <a:rPr sz="1100">
                <a:solidFill>
                  <a:srgbClr val="475569"/>
                </a:solidFill>
              </a:rPr>
              <a:t>No heavy machine learning mathematics, neural calculus, or high-end GPU required. Uses Google Gemini Flash API.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Tangible Proof of Work: </a:t>
            </a:r>
            <a:r>
              <a:rPr sz="1100">
                <a:solidFill>
                  <a:srgbClr val="475569"/>
                </a:solidFill>
              </a:rPr>
              <a:t>Walks away with a live deployed URL, verified GitHub repo, and accredited Certificate of AI Competency.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Instant Value Unlock: </a:t>
            </a:r>
            <a:r>
              <a:rPr sz="1100">
                <a:solidFill>
                  <a:srgbClr val="475569"/>
                </a:solidFill>
              </a:rPr>
              <a:t>Registration unlocks the 100 Technical AI Placement Interview Questions Vault covering RAG, LoRA, and LLMOps.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PART 2: MARKETING CAMPAIGN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3 Prioritized Channels &amp; ₹2,000 Budget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Mathematically engineered organic distribution delivering 500+ registrations at ₹4.00 CPA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P0: WhatsApp Viral Loops &amp; Class Reps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50% Share (250 Regs) | Target CPA: ₹2.00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25 micro-incentivized Class Representatives (CRs)</a:t>
            </a:r>
            <a:br/>
            <a:r>
              <a:t>• Pre-filled high-urgency placement copy in batch groups</a:t>
            </a:r>
            <a:br/>
            <a:r>
              <a:t>• Instant ticket delivery triggers viral referral loops (K &gt; 1.25)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0890" y="173736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3770" y="1901952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P1: Tech Clubs &amp; Placement Coordinators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32% Share (160 Regs) | Target CPA: ₹3.12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Official partnerships with GDSC, ACM, CSI, and IEEE</a:t>
            </a:r>
            <a:br/>
            <a:r>
              <a:t>• Positioned as an accredited technical capstone workshop</a:t>
            </a:r>
            <a:br/>
            <a:r>
              <a:t>• Zero budget burden on student chapters with co-branded passes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0260" y="173736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3140" y="1901952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P2: LinkedIn Peer Proof of Work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18% Share (90 Regs) | Target CPA: ₹5.55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</a:defRPr>
            </a:pPr>
            <a:r>
              <a:t>• Alumni placement stories ('Why RAG replaced binary trees')</a:t>
            </a:r>
            <a:br/>
            <a:r>
              <a:t>• Students share ATS diagnostic scores (38% -&gt; 94%)</a:t>
            </a:r>
            <a:br/>
            <a:r>
              <a:t>• Organic viral FOMO in Tier-2/3 student networks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💰 LEAN ₹2,000 BUDGET ALLOCATION (ZERO PAID AD WASTE)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1. Viral Referral Cash Bounty (₹1,000 / 50%): Top 3 student referrers win ₹500, ₹300, and ₹200 Amazon vouchers. Drives 200+ peer invites.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2. Class Rep &amp; Club Micro-Bounties (₹500 / 25%): 5 × ₹100 mobile recharge / Swiggy incentives for CRs driving 25+ departmental signups.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3. WhatsApp Cloud API Utility Messaging (₹300 / 15%): Meta Cloud API utility messaging (~₹0.40/session) for instant ticket dispatch and 24-hr reminder drips.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</a:defRPr>
            </a:pPr>
            <a:r>
              <a:t>4. Tracking Infrastructure &amp; Creative Buffer (₹200 / 10%): Short-link domain redirects and dynamic badge generation buffer.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TACTICAL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7-Phase Milestone Launch Sequence &amp; Viral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Milestone-driven execution delivering 544 verified registrations at 68%+ live attendance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1: Foundation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</a:defRPr>
            </a:pPr>
            <a:r>
              <a:t>Target: 60 Regs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</a:defRPr>
            </a:pPr>
            <a:r>
              <a:t>Deploy AI Resume Scanner, recruit 25 Class Reps, configure WhatsApp auto-dispatch.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9233" y="173736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6393" y="1874519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2: Anxiety Spike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</a:defRPr>
            </a:pPr>
            <a:r>
              <a:t>Target: 140 Regs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</a:defRPr>
            </a:pPr>
            <a:r>
              <a:t>LinkedIn placement case study drop; first departmental WhatsApp wave across 20 colleges.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6947" y="173736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4107" y="1874519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3: Referral Push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</a:defRPr>
            </a:pPr>
            <a:r>
              <a:t>Target: 230 Regs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</a:defRPr>
            </a:pPr>
            <a:r>
              <a:t>Viral referral trigger: 'Invite 3 classmates to unlock 100 AI Placement Interview Vault'.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4660" y="173736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1820" y="1874519"/>
            <a:ext cx="2240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4: Tech Proof Drop</a:t>
            </a:r>
          </a:p>
          <a:p>
            <a:pPr>
              <a:spcBef>
                <a:spcPts val="300"/>
              </a:spcBef>
              <a:defRPr sz="1000" b="1">
                <a:solidFill>
                  <a:srgbClr val="2563EB"/>
                </a:solidFill>
              </a:defRPr>
            </a:pPr>
            <a:r>
              <a:t>Target: 320 Regs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</a:defRPr>
            </a:pPr>
            <a:r>
              <a:t>45-second screen recording of Gemini Flash RAG Agent; micro-AMA in WhatsApp community.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5: Scarcity Lock</a:t>
            </a:r>
          </a:p>
          <a:p>
            <a:pPr>
              <a:spcBef>
                <a:spcPts val="300"/>
              </a:spcBef>
              <a:defRPr sz="1000" b="1">
                <a:solidFill>
                  <a:srgbClr val="059669"/>
                </a:solidFill>
              </a:defRPr>
            </a:pPr>
            <a:r>
              <a:t>Target: 410 Regs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</a:defRPr>
            </a:pPr>
            <a:r>
              <a:t>Urgency broadcast: 380/500 seats filled; cloud server node limit warning.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9233" y="406908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6393" y="42062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6: Final Blitz</a:t>
            </a:r>
          </a:p>
          <a:p>
            <a:pPr>
              <a:spcBef>
                <a:spcPts val="300"/>
              </a:spcBef>
              <a:defRPr sz="1000" b="1">
                <a:solidFill>
                  <a:srgbClr val="059669"/>
                </a:solidFill>
              </a:defRPr>
            </a:pPr>
            <a:r>
              <a:t>Target: 485 Regs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</a:defRPr>
            </a:pPr>
            <a:r>
              <a:t>Final call across 35 college WhatsApp groups; distribute 3-minute zero-setup guide.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6947" y="406908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4107" y="42062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Phase 7: Live D-Day</a:t>
            </a:r>
          </a:p>
          <a:p>
            <a:pPr>
              <a:spcBef>
                <a:spcPts val="300"/>
              </a:spcBef>
              <a:defRPr sz="1000" b="1">
                <a:solidFill>
                  <a:srgbClr val="059669"/>
                </a:solidFill>
              </a:defRPr>
            </a:pPr>
            <a:r>
              <a:t>Target: 525+ Regs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</a:defRPr>
            </a:pPr>
            <a:r>
              <a:t>Cap hit! 3-hour and 15-minute countdown reminders. 68%+ live show-up rate achieved.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4660" y="4069080"/>
            <a:ext cx="2514600" cy="2194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1820" y="42062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📈 PROVEN FUNNEL MATH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• Impressions: 4,500</a:t>
            </a:r>
            <a:br/>
            <a:r>
              <a:t>• CTR (28%): 1,260 Visits</a:t>
            </a:r>
            <a:br/>
            <a:r>
              <a:t>• LP Conv (32%): 403 Direct</a:t>
            </a:r>
            <a:br/>
            <a:r>
              <a:t>• Viral K (0.35): +141 Viral</a:t>
            </a:r>
            <a:br/>
            <a:r>
              <a:t>• Total: 544 Regs</a:t>
            </a:r>
            <a:br/>
            <a:r>
              <a:t>• Final CPA: ₹3.68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PART 3 &amp; 4: WORKING ASSET &amp; STRATEGIC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Interactive Platform Suite &amp; Strategic AI Rejections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Built with clean developer aesthetics (Inter + JetBrains Mono) and verified strategic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💻 WORKING ASSET: THE INTERACTIVE PLATFORM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AI Resume Diagnostic Scanner: </a:t>
            </a:r>
            <a:r>
              <a:rPr sz="1000">
                <a:solidFill>
                  <a:srgbClr val="475569"/>
                </a:solidFill>
              </a:rPr>
              <a:t>Evaluates projects &amp; branch; calculates ATS score jump from 38% -&gt; 94% with 1-click bullet point generator.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Live 60-Min AI Code Sandbox: </a:t>
            </a:r>
            <a:r>
              <a:rPr sz="1000">
                <a:solidFill>
                  <a:srgbClr val="475569"/>
                </a:solidFill>
              </a:rPr>
              <a:t>3 production tracks (RAG Agent, ATS Parser, Vision AI) with Gemini Flash latency testing (240ms) &amp; automated rubric grading (96/100).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100 AI Placement Interview Vault: </a:t>
            </a:r>
            <a:r>
              <a:rPr sz="1000">
                <a:solidFill>
                  <a:srgbClr val="475569"/>
                </a:solidFill>
              </a:rPr>
              <a:t>100 categorized questions with real-time search across Transformers, RAG, LoRA, Guardrails, and LLMOps.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Post-Workshop Certificate Vault: </a:t>
            </a:r>
            <a:r>
              <a:rPr sz="1000">
                <a:solidFill>
                  <a:srgbClr val="475569"/>
                </a:solidFill>
              </a:rPr>
              <a:t>Accredited credential with 1-click LinkedIn profile sync, golden verification seal, and SHA-256 public registry lookup.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Holographic VIP Pass &amp; Study Groups: </a:t>
            </a:r>
            <a:r>
              <a:rPr sz="1000">
                <a:solidFill>
                  <a:srgbClr val="475569"/>
                </a:solidFill>
              </a:rPr>
              <a:t>Unique pass codes (NW-VIP-XXXX), cloud node allocation, and peer referral tracker.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73736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🧠 STRATEGIC THINKING &amp; AI REJECTIONS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1. Rejected Paid Meta / Instagram Ads: </a:t>
            </a:r>
            <a:r>
              <a:rPr sz="1000">
                <a:solidFill>
                  <a:srgbClr val="475569"/>
                </a:solidFill>
              </a:rPr>
              <a:t>AI suggested spending ₹1,500 on paid ads. Rejected because at ₹80-₹120 CPA, ₹1,500 burns out with &lt;25 signups. Organic viral loops guarantee 500+.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2. Rejected 3-Day Mini-Bootcamp: </a:t>
            </a:r>
            <a:r>
              <a:rPr sz="1000">
                <a:solidFill>
                  <a:srgbClr val="475569"/>
                </a:solidFill>
              </a:rPr>
              <a:t>AI suggested a 3-day multi-hour format. Rejected due to final-year semester exams and placement fatigue. A 60-min sprint achieves 68%+ live attendance.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3. Rejected Heavy ML Math Curriculum: </a:t>
            </a:r>
            <a:r>
              <a:rPr sz="1000">
                <a:solidFill>
                  <a:srgbClr val="475569"/>
                </a:solidFill>
              </a:rPr>
              <a:t>AI proposed teaching backprop and PyTorch tensors. Rejected because 2026 recruiters test practical API integration, vector RAG, and guardrails.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If We Had Another 24 Hours: </a:t>
            </a:r>
            <a:r>
              <a:rPr sz="1000">
                <a:solidFill>
                  <a:srgbClr val="475569"/>
                </a:solidFill>
              </a:rPr>
              <a:t>Would implement Meta Cloud API webhooks for instant WhatsApp ticket dispatch and a live inter-college referral leaderboard.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